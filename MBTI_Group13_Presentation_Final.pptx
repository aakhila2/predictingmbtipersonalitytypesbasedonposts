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0" r:id="rId6"/>
    <p:sldId id="273" r:id="rId7"/>
    <p:sldId id="260" r:id="rId8"/>
    <p:sldId id="272" r:id="rId9"/>
    <p:sldId id="261" r:id="rId10"/>
    <p:sldId id="262" r:id="rId11"/>
    <p:sldId id="263" r:id="rId12"/>
    <p:sldId id="264" r:id="rId13"/>
    <p:sldId id="265" r:id="rId14"/>
    <p:sldId id="266" r:id="rId15"/>
    <p:sldId id="269" r:id="rId16"/>
    <p:sldId id="267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0BFA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10-4CDC-976E-6300E4B8A94E}"/>
              </c:ext>
            </c:extLst>
          </c:dPt>
          <c:dPt>
            <c:idx val="1"/>
            <c:invertIfNegative val="0"/>
            <c:bubble3D val="0"/>
            <c:spPr>
              <a:solidFill>
                <a:srgbClr val="26C6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10-4CDC-976E-6300E4B8A94E}"/>
              </c:ext>
            </c:extLst>
          </c:dPt>
          <c:dPt>
            <c:idx val="2"/>
            <c:invertIfNegative val="0"/>
            <c:bubble3D val="0"/>
            <c:spPr>
              <a:solidFill>
                <a:srgbClr val="5C6B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10-4CDC-976E-6300E4B8A94E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10-4CDC-976E-6300E4B8A94E}"/>
              </c:ext>
            </c:extLst>
          </c:dPt>
          <c:dPt>
            <c:idx val="4"/>
            <c:invertIfNegative val="0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10-4CDC-976E-6300E4B8A94E}"/>
              </c:ext>
            </c:extLst>
          </c:dPt>
          <c:dPt>
            <c:idx val="5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D10-4CDC-976E-6300E4B8A94E}"/>
              </c:ext>
            </c:extLst>
          </c:dPt>
          <c:dPt>
            <c:idx val="6"/>
            <c:invertIfNegative val="0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D10-4CDC-976E-6300E4B8A94E}"/>
              </c:ext>
            </c:extLst>
          </c:dPt>
          <c:dPt>
            <c:idx val="7"/>
            <c:invertIfNegative val="0"/>
            <c:bubble3D val="0"/>
            <c:spPr>
              <a:solidFill>
                <a:srgbClr val="7890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D10-4CDC-976E-6300E4B8A94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0.981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D10-4CDC-976E-6300E4B8A94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0.979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D10-4CDC-976E-6300E4B8A94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0.954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D10-4CDC-976E-6300E4B8A94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0.950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D10-4CDC-976E-6300E4B8A94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0.949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DD10-4CDC-976E-6300E4B8A94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0.891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DD10-4CDC-976E-6300E4B8A94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0.866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DD10-4CDC-976E-6300E4B8A94E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0.834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DD10-4CDC-976E-6300E4B8A94E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ED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Linear SVM</c:v>
                </c:pt>
                <c:pt idx="1">
                  <c:v>Random Forest</c:v>
                </c:pt>
                <c:pt idx="2">
                  <c:v>BERT</c:v>
                </c:pt>
                <c:pt idx="3">
                  <c:v>DistilBERT</c:v>
                </c:pt>
                <c:pt idx="4">
                  <c:v>RoBERTa</c:v>
                </c:pt>
                <c:pt idx="5">
                  <c:v>Naïve Bayes</c:v>
                </c:pt>
                <c:pt idx="6">
                  <c:v>Bi-LSTM</c:v>
                </c:pt>
                <c:pt idx="7">
                  <c:v>Log. Reg.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0.98129999999999995</c:v>
                </c:pt>
                <c:pt idx="1">
                  <c:v>0.97940000000000005</c:v>
                </c:pt>
                <c:pt idx="2">
                  <c:v>0.95440000000000003</c:v>
                </c:pt>
                <c:pt idx="3">
                  <c:v>0.95050000000000001</c:v>
                </c:pt>
                <c:pt idx="4">
                  <c:v>0.94899999999999995</c:v>
                </c:pt>
                <c:pt idx="5">
                  <c:v>0.89170000000000005</c:v>
                </c:pt>
                <c:pt idx="6">
                  <c:v>0.86629999999999996</c:v>
                </c:pt>
                <c:pt idx="7">
                  <c:v>0.83420000000000005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D10-4CDC-976E-6300E4B8A9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0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25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0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741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33601-C935-57D1-8E88-F27F54B6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56DBA-3132-1F4C-EF4E-D6C4A7FDC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799DC-9DDF-3D90-8895-042D1B3E0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46AEE-1F95-6987-191F-E557704C3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87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268EA-29C5-62CA-DB33-3E1CF914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929129-6579-0C2A-4A94-F95156B67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8274D-CC92-C4E7-38CD-416B2CAD2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E3F6C-C3BE-2419-426D-6416049721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28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0A850-DA46-AB1E-E1F0-7CAC56E8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FE9C6-DD1D-7A1F-1C13-076873356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59D67-DE56-9D73-A7A9-84A464824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030E8-0D84-9759-FA45-3901A994EE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98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7B34-D793-3EFB-853F-27CCB0A0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5D2FA-7B67-0D8A-C72D-ABA8F2836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0D060-354E-8D01-749E-69E0277ED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DA9BF-E0EC-1017-D30D-0376375DC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465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8916C-EC93-4322-E4F9-658CEDF8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CCCA0-2595-008D-CAF9-3907F3FBA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CFC5C-436C-D277-0EF1-165C5D4E1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75247-794F-54E1-E703-5F77AF556A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0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572000" cy="4572000"/>
          </a:xfrm>
          <a:prstGeom prst="ellipse">
            <a:avLst/>
          </a:prstGeom>
          <a:solidFill>
            <a:srgbClr val="00BFA5">
              <a:alpha val="12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2880"/>
            <a:ext cx="2743200" cy="2743200"/>
          </a:xfrm>
          <a:prstGeom prst="ellipse">
            <a:avLst/>
          </a:prstGeom>
          <a:solidFill>
            <a:srgbClr val="FFB300">
              <a:alpha val="15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25603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FA5"/>
                </a:solidFill>
              </a:rPr>
              <a:t>CS354N — COMPUTATIONAL INTELLIGENCE 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MBTI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Personality Types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13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657600"/>
            <a:ext cx="4114800" cy="22860"/>
          </a:xfrm>
          <a:prstGeom prst="rect">
            <a:avLst/>
          </a:prstGeom>
          <a:solidFill>
            <a:srgbClr val="A0B0C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Akella Akhila · Kommireddy Jayanthi · Nelluri Pavithra · Parimi Sunitha · Soha Sultana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Spring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28016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00BFA5">
              <a:alpha val="30000"/>
            </a:srgbClr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28016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INTJ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33488" y="128016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FFB300">
              <a:alpha val="30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128016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INTP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991856" y="128016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5C6BC0">
              <a:alpha val="30000"/>
            </a:srgbClr>
          </a:solidFill>
          <a:ln w="635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91856" y="128016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ENTJ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650224" y="128016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7E57C2">
              <a:alpha val="30000"/>
            </a:srgbClr>
          </a:solidFill>
          <a:ln w="6350">
            <a:solidFill>
              <a:srgbClr val="7E57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0224" y="128016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ENTP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675120" y="210312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AB47BC">
              <a:alpha val="30000"/>
            </a:srgbClr>
          </a:solidFill>
          <a:ln w="6350">
            <a:solidFill>
              <a:srgbClr val="AB47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1031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INFJ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33488" y="210312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EC407A">
              <a:alpha val="30000"/>
            </a:srgbClr>
          </a:solidFill>
          <a:ln w="6350">
            <a:solidFill>
              <a:srgbClr val="EC4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3488" y="21031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INFP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991856" y="210312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26C6DA">
              <a:alpha val="30000"/>
            </a:srgbClr>
          </a:solidFill>
          <a:ln w="6350">
            <a:solidFill>
              <a:srgbClr val="26C6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91856" y="21031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ENFJ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650224" y="210312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00BFA5">
              <a:alpha val="30000"/>
            </a:srgbClr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0224" y="21031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ENFP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675120" y="292608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00BFA5">
              <a:alpha val="30000"/>
            </a:srgbClr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92608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ISTJ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333488" y="292608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FFB300">
              <a:alpha val="30000"/>
            </a:srgbClr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33488" y="292608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ISFJ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991856" y="292608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5C6BC0">
              <a:alpha val="30000"/>
            </a:srgbClr>
          </a:solidFill>
          <a:ln w="6350">
            <a:solidFill>
              <a:srgbClr val="5C6B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91856" y="292608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ESTJ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650224" y="292608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7E57C2">
              <a:alpha val="30000"/>
            </a:srgbClr>
          </a:solidFill>
          <a:ln w="6350">
            <a:solidFill>
              <a:srgbClr val="7E57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50224" y="292608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ESFJ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675120" y="374904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AB47BC">
              <a:alpha val="30000"/>
            </a:srgbClr>
          </a:solidFill>
          <a:ln w="6350">
            <a:solidFill>
              <a:srgbClr val="AB47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74904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ISTP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333488" y="374904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EC407A">
              <a:alpha val="30000"/>
            </a:srgbClr>
          </a:solidFill>
          <a:ln w="6350">
            <a:solidFill>
              <a:srgbClr val="EC40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33488" y="374904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ISFP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91856" y="374904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26C6DA">
              <a:alpha val="30000"/>
            </a:srgbClr>
          </a:solidFill>
          <a:ln w="6350">
            <a:solidFill>
              <a:srgbClr val="26C6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91856" y="374904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ESTP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650224" y="374904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00BFA5">
              <a:alpha val="30000"/>
            </a:srgbClr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50224" y="374904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EDE8"/>
                </a:solidFill>
              </a:rPr>
              <a:t>ESFP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MBTI?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20240" cy="1417320"/>
          </a:xfrm>
          <a:prstGeom prst="rect">
            <a:avLst/>
          </a:prstGeom>
          <a:solidFill>
            <a:srgbClr val="00BFA5">
              <a:alpha val="18000"/>
            </a:srgbClr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E/I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DE8"/>
                </a:solidFill>
              </a:rPr>
              <a:t>Extraversion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EDE8"/>
                </a:solidFill>
              </a:rPr>
              <a:t>vs Introversion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1920240" cy="1417320"/>
          </a:xfrm>
          <a:prstGeom prst="rect">
            <a:avLst/>
          </a:prstGeom>
          <a:solidFill>
            <a:srgbClr val="5C6BC0">
              <a:alpha val="18000"/>
            </a:srgbClr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C6B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N/S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2103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DE8"/>
                </a:solidFill>
              </a:rPr>
              <a:t>Intuition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EDE8"/>
                </a:solidFill>
              </a:rPr>
              <a:t>vs Sensing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1920240" cy="1417320"/>
          </a:xfrm>
          <a:prstGeom prst="rect">
            <a:avLst/>
          </a:prstGeom>
          <a:solidFill>
            <a:srgbClr val="FFB300">
              <a:alpha val="18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F/T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2103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DE8"/>
                </a:solidFill>
              </a:rPr>
              <a:t>Feeling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EDE8"/>
                </a:solidFill>
              </a:rPr>
              <a:t>vs Thinking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417320"/>
            <a:ext cx="1920240" cy="1417320"/>
          </a:xfrm>
          <a:prstGeom prst="rect">
            <a:avLst/>
          </a:prstGeom>
          <a:solidFill>
            <a:srgbClr val="EC407A">
              <a:alpha val="18000"/>
            </a:srgbClr>
          </a:solidFill>
          <a:ln w="19050">
            <a:solidFill>
              <a:srgbClr val="EC4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C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J/P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0840" y="2103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DE8"/>
                </a:solidFill>
              </a:rPr>
              <a:t>Judging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EDE8"/>
                </a:solidFill>
              </a:rPr>
              <a:t>vs Perceiving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DE8"/>
                </a:solidFill>
              </a:rPr>
              <a:t>→  16 unique personality combinations from 4 binary dimensions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91440" cy="9144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C0"/>
                </a:solidFill>
              </a:rPr>
              <a:t>Human–Computer Interaction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91440" cy="9144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C0"/>
                </a:solidFill>
              </a:rPr>
              <a:t>Recommendation Systems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91440" cy="9144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C0"/>
                </a:solidFill>
              </a:rPr>
              <a:t>Behavioral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00BFA5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EDE8"/>
                </a:solidFill>
              </a:rPr>
              <a:t>Goal: Automatically predict MBTI type from free-form text using ML &amp; DL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DATASET &amp; DATA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MBTI 500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5603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106,067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C0"/>
                </a:solidFill>
              </a:rPr>
              <a:t>Total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C0"/>
                </a:solidFill>
              </a:rPr>
              <a:t>MBTI Classes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25603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7220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C0"/>
                </a:solidFill>
              </a:rPr>
              <a:t>Columns: posts + type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32884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</a:rPr>
              <a:t>Class Imbalance (Before Upsampling)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746858"/>
            <a:ext cx="640080" cy="1093622"/>
          </a:xfrm>
          <a:prstGeom prst="rect">
            <a:avLst/>
          </a:prstGeom>
          <a:solidFill>
            <a:srgbClr val="00BFA5">
              <a:alpha val="8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49082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A5"/>
                </a:solidFill>
              </a:rPr>
              <a:t>23%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</a:rPr>
              <a:t>INTP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94560" y="2841955"/>
            <a:ext cx="640080" cy="998525"/>
          </a:xfrm>
          <a:prstGeom prst="rect">
            <a:avLst/>
          </a:prstGeom>
          <a:solidFill>
            <a:srgbClr val="5C6BC0">
              <a:alpha val="8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2585923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6BC0"/>
                </a:solidFill>
              </a:rPr>
              <a:t>21%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</a:rPr>
              <a:t>INTJ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91840" y="3269894"/>
            <a:ext cx="640080" cy="570586"/>
          </a:xfrm>
          <a:prstGeom prst="rect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01386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</a:rPr>
              <a:t>12%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</a:rPr>
              <a:t>INFP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89120" y="3364992"/>
            <a:ext cx="640080" cy="475488"/>
          </a:xfrm>
          <a:prstGeom prst="rect">
            <a:avLst/>
          </a:prstGeom>
          <a:solidFill>
            <a:srgbClr val="AB47BC">
              <a:alpha val="80000"/>
            </a:srgbClr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108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B47BC"/>
                </a:solidFill>
              </a:rPr>
              <a:t>10%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</a:rPr>
              <a:t>INFJ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0" y="3507638"/>
            <a:ext cx="640080" cy="332842"/>
          </a:xfrm>
          <a:prstGeom prst="rect">
            <a:avLst/>
          </a:prstGeom>
          <a:solidFill>
            <a:srgbClr val="26C6DA">
              <a:alpha val="80000"/>
            </a:srgbClr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25160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C6DA"/>
                </a:solidFill>
              </a:rPr>
              <a:t>7%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</a:rPr>
              <a:t>ENTP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0" y="3602736"/>
            <a:ext cx="640080" cy="237744"/>
          </a:xfrm>
          <a:prstGeom prst="rect">
            <a:avLst/>
          </a:prstGeom>
          <a:solidFill>
            <a:srgbClr val="EC407A">
              <a:alpha val="80000"/>
            </a:srgbClr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3467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07A"/>
                </a:solidFill>
              </a:rPr>
              <a:t>5%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</a:rPr>
              <a:t>INTP*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680960" y="2794406"/>
            <a:ext cx="640080" cy="1046074"/>
          </a:xfrm>
          <a:prstGeom prst="rect">
            <a:avLst/>
          </a:prstGeom>
          <a:solidFill>
            <a:srgbClr val="A0B0C0">
              <a:alpha val="80000"/>
            </a:srgbClr>
          </a:solidFill>
          <a:ln w="12700">
            <a:solidFill>
              <a:srgbClr val="A0B0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253837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B0C0"/>
                </a:solidFill>
              </a:rPr>
              <a:t>22%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8952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0C0"/>
                </a:solidFill>
              </a:rPr>
              <a:t>Others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EDE8"/>
                </a:solidFill>
              </a:rPr>
              <a:t>→  Upsampling applied: all 16 classes boosted to majority class size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TEXT PREPROCESSING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raw posts become model-ready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51760" cy="132588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384048" cy="1325880"/>
          </a:xfrm>
          <a:prstGeom prst="rect">
            <a:avLst/>
          </a:prstGeom>
          <a:solidFill>
            <a:srgbClr val="00BFA5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3840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325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URL &amp; Special Character Removal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164592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B0C0"/>
                </a:solidFill>
              </a:rPr>
              <a:t>Regex strips all http/https links and special characters from post text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51760" cy="1325880"/>
          </a:xfrm>
          <a:prstGeom prst="rect">
            <a:avLst/>
          </a:prstGeom>
          <a:solidFill>
            <a:srgbClr val="162032"/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34440"/>
            <a:ext cx="384048" cy="1325880"/>
          </a:xfrm>
          <a:prstGeom prst="rect">
            <a:avLst/>
          </a:prstGeom>
          <a:solidFill>
            <a:srgbClr val="5C6BC0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34440"/>
            <a:ext cx="3840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30752" y="1325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C0"/>
                </a:solidFill>
              </a:rPr>
              <a:t>Lowercase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0752" y="164592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B0C0"/>
                </a:solidFill>
              </a:rPr>
              <a:t>Text lowercased to reduce the vocabulary size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234440"/>
            <a:ext cx="2651760" cy="1325880"/>
          </a:xfrm>
          <a:prstGeom prst="rect">
            <a:avLst/>
          </a:prstGeom>
          <a:solidFill>
            <a:srgbClr val="162032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34440"/>
            <a:ext cx="384048" cy="1325880"/>
          </a:xfrm>
          <a:prstGeom prst="rect">
            <a:avLst/>
          </a:prstGeom>
          <a:solidFill>
            <a:srgbClr val="FFB300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234440"/>
            <a:ext cx="3840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11112" y="1325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</a:rPr>
              <a:t>Word-Frequency Filter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11112" y="164592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0B0C0"/>
                </a:solidFill>
              </a:rPr>
              <a:t>Only words appearing in ≥69 distinct rows are kept (MIN_WORD_ROW_FREQUENCY = 69)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2651760" cy="1325880"/>
          </a:xfrm>
          <a:prstGeom prst="rect">
            <a:avLst/>
          </a:prstGeom>
          <a:solidFill>
            <a:srgbClr val="162032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88920"/>
            <a:ext cx="384048" cy="1325880"/>
          </a:xfrm>
          <a:prstGeom prst="rect">
            <a:avLst/>
          </a:prstGeom>
          <a:solidFill>
            <a:srgbClr val="AB47BC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788920"/>
            <a:ext cx="3840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B47BC"/>
                </a:solidFill>
              </a:rPr>
              <a:t>Lemmatization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32004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950" dirty="0" err="1">
                <a:solidFill>
                  <a:srgbClr val="A0B0C0"/>
                </a:solidFill>
              </a:rPr>
              <a:t>WordNetLemmatizer</a:t>
            </a:r>
            <a:r>
              <a:rPr lang="en-US" sz="950" dirty="0">
                <a:solidFill>
                  <a:srgbClr val="A0B0C0"/>
                </a:solidFill>
              </a:rPr>
              <a:t> reduces words to their root form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788920"/>
            <a:ext cx="2651760" cy="1325880"/>
          </a:xfrm>
          <a:prstGeom prst="rect">
            <a:avLst/>
          </a:prstGeom>
          <a:solidFill>
            <a:srgbClr val="162032"/>
          </a:solidFill>
          <a:ln w="19050">
            <a:solidFill>
              <a:srgbClr val="EC40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788920"/>
            <a:ext cx="384048" cy="1325880"/>
          </a:xfrm>
          <a:prstGeom prst="rect">
            <a:avLst/>
          </a:prstGeom>
          <a:solidFill>
            <a:srgbClr val="EC407A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2788920"/>
            <a:ext cx="3840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30752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07A"/>
                </a:solidFill>
              </a:rPr>
              <a:t>Lemmatisation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30752" y="32004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A0B0C0"/>
                </a:solidFill>
              </a:rPr>
              <a:t>NLTK English stop-words list applied to reduce noise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788920"/>
            <a:ext cx="2651760" cy="1325880"/>
          </a:xfrm>
          <a:prstGeom prst="rect">
            <a:avLst/>
          </a:prstGeom>
          <a:solidFill>
            <a:srgbClr val="1A2E44"/>
          </a:solidFill>
          <a:ln w="6350">
            <a:solidFill>
              <a:srgbClr val="A0B0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71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A0B0C0"/>
                </a:solidFill>
              </a:rPr>
              <a:t>Rows with empty cleaned text are dropped.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A0B0C0"/>
                </a:solidFill>
              </a:rPr>
              <a:t>Preprocessed DataFrame is pickle-cached for re-use.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924D3-B68E-095D-9116-E7642FB6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CC319E-B8D0-9E69-586F-5E86FCBC5C0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5A6DC9-F990-EFED-E822-A0EEDA9A1B4A}"/>
              </a:ext>
            </a:extLst>
          </p:cNvPr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UPSAMPLING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86B9F8-2CA1-0FD7-C1FD-3DBB9F6999C4}"/>
              </a:ext>
            </a:extLst>
          </p:cNvPr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</a:t>
            </a:r>
            <a:r>
              <a:rPr lang="en-US" sz="2800" b="1" dirty="0" err="1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Upsampling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E06FDC-C7A6-B12E-47B6-078383CBE16A}"/>
              </a:ext>
            </a:extLst>
          </p:cNvPr>
          <p:cNvSpPr/>
          <p:nvPr/>
        </p:nvSpPr>
        <p:spPr>
          <a:xfrm>
            <a:off x="411480" y="1234440"/>
            <a:ext cx="25603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49D93E-7E14-D209-05B6-40127FEBF13A}"/>
              </a:ext>
            </a:extLst>
          </p:cNvPr>
          <p:cNvSpPr/>
          <p:nvPr/>
        </p:nvSpPr>
        <p:spPr>
          <a:xfrm>
            <a:off x="41148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106,067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528C81-EAA0-12D2-718C-F6596B4A025E}"/>
              </a:ext>
            </a:extLst>
          </p:cNvPr>
          <p:cNvSpPr/>
          <p:nvPr/>
        </p:nvSpPr>
        <p:spPr>
          <a:xfrm>
            <a:off x="41148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C0"/>
                </a:solidFill>
              </a:rPr>
              <a:t>Total Rows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32280B8-6A3E-72F3-96DE-067835DE265A}"/>
              </a:ext>
            </a:extLst>
          </p:cNvPr>
          <p:cNvSpPr/>
          <p:nvPr/>
        </p:nvSpPr>
        <p:spPr>
          <a:xfrm>
            <a:off x="3291840" y="1234440"/>
            <a:ext cx="25603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BC9D8C-35D6-364E-5D5E-E06FE224F136}"/>
              </a:ext>
            </a:extLst>
          </p:cNvPr>
          <p:cNvSpPr/>
          <p:nvPr/>
        </p:nvSpPr>
        <p:spPr>
          <a:xfrm>
            <a:off x="329184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B9D109-59BB-6B7E-3306-FF4C7868E741}"/>
              </a:ext>
            </a:extLst>
          </p:cNvPr>
          <p:cNvSpPr/>
          <p:nvPr/>
        </p:nvSpPr>
        <p:spPr>
          <a:xfrm>
            <a:off x="329184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C0"/>
                </a:solidFill>
              </a:rPr>
              <a:t>MBTI Classes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409E7A2-E483-B111-9373-2F23976165B7}"/>
              </a:ext>
            </a:extLst>
          </p:cNvPr>
          <p:cNvSpPr/>
          <p:nvPr/>
        </p:nvSpPr>
        <p:spPr>
          <a:xfrm>
            <a:off x="6172200" y="1234440"/>
            <a:ext cx="25603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5F765C6-EA38-DBC8-E89B-F04B61268070}"/>
              </a:ext>
            </a:extLst>
          </p:cNvPr>
          <p:cNvSpPr/>
          <p:nvPr/>
        </p:nvSpPr>
        <p:spPr>
          <a:xfrm>
            <a:off x="617220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B9B8CAB-7E1D-4590-FEC0-205AB2BF64B6}"/>
              </a:ext>
            </a:extLst>
          </p:cNvPr>
          <p:cNvSpPr/>
          <p:nvPr/>
        </p:nvSpPr>
        <p:spPr>
          <a:xfrm>
            <a:off x="617220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C0"/>
                </a:solidFill>
              </a:rPr>
              <a:t>Columns: posts + type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5350AE3-1230-6BDC-71C2-3E2A21232664}"/>
              </a:ext>
            </a:extLst>
          </p:cNvPr>
          <p:cNvSpPr/>
          <p:nvPr/>
        </p:nvSpPr>
        <p:spPr>
          <a:xfrm>
            <a:off x="457200" y="232884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53A649E-74BF-815D-F591-03989AEEFD49}"/>
              </a:ext>
            </a:extLst>
          </p:cNvPr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>
                <a:solidFill>
                  <a:srgbClr val="A0B0C0"/>
                </a:solidFill>
              </a:rPr>
              <a:t>The resulting 4 columns is a product of preprocessing.</a:t>
            </a:r>
            <a:endParaRPr lang="en-US" sz="11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FF3B789C-CFF6-AF94-45E0-2C90B4092240}"/>
              </a:ext>
            </a:extLst>
          </p:cNvPr>
          <p:cNvSpPr/>
          <p:nvPr/>
        </p:nvSpPr>
        <p:spPr>
          <a:xfrm>
            <a:off x="411480" y="243310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</a:t>
            </a:r>
            <a:r>
              <a:rPr lang="en-US" sz="2800" b="1" dirty="0" err="1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Upsampling</a:t>
            </a:r>
            <a:endParaRPr lang="en-US" sz="2800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39BA5EE9-CF50-E017-102E-FF942FB0BACC}"/>
              </a:ext>
            </a:extLst>
          </p:cNvPr>
          <p:cNvSpPr/>
          <p:nvPr/>
        </p:nvSpPr>
        <p:spPr>
          <a:xfrm>
            <a:off x="365760" y="3073187"/>
            <a:ext cx="25603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02D43B24-35E0-48E8-7C30-EC50AD41ED74}"/>
              </a:ext>
            </a:extLst>
          </p:cNvPr>
          <p:cNvSpPr/>
          <p:nvPr/>
        </p:nvSpPr>
        <p:spPr>
          <a:xfrm>
            <a:off x="365760" y="3118907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399,376</a:t>
            </a:r>
            <a:endParaRPr lang="en-US" sz="26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44C9417B-5948-03F9-143E-7CE25FBF7BFE}"/>
              </a:ext>
            </a:extLst>
          </p:cNvPr>
          <p:cNvSpPr/>
          <p:nvPr/>
        </p:nvSpPr>
        <p:spPr>
          <a:xfrm>
            <a:off x="365760" y="357610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C0"/>
                </a:solidFill>
              </a:rPr>
              <a:t>Total Rows</a:t>
            </a:r>
            <a:endParaRPr lang="en-US" sz="10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6694571E-882C-5769-9A47-61234808FA24}"/>
              </a:ext>
            </a:extLst>
          </p:cNvPr>
          <p:cNvSpPr/>
          <p:nvPr/>
        </p:nvSpPr>
        <p:spPr>
          <a:xfrm>
            <a:off x="3246120" y="3073187"/>
            <a:ext cx="25603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48DC7007-54FF-0343-1078-F1803D391610}"/>
              </a:ext>
            </a:extLst>
          </p:cNvPr>
          <p:cNvSpPr/>
          <p:nvPr/>
        </p:nvSpPr>
        <p:spPr>
          <a:xfrm>
            <a:off x="3246120" y="3118907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6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67BFB3E1-2153-4DDD-2AF6-0BE13383A836}"/>
              </a:ext>
            </a:extLst>
          </p:cNvPr>
          <p:cNvSpPr/>
          <p:nvPr/>
        </p:nvSpPr>
        <p:spPr>
          <a:xfrm>
            <a:off x="3246120" y="357610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C0"/>
                </a:solidFill>
              </a:rPr>
              <a:t>MBTI Classes</a:t>
            </a:r>
            <a:endParaRPr lang="en-US" sz="1000" dirty="0"/>
          </a:p>
        </p:txBody>
      </p:sp>
      <p:sp>
        <p:nvSpPr>
          <p:cNvPr id="44" name="Shape 9">
            <a:extLst>
              <a:ext uri="{FF2B5EF4-FFF2-40B4-BE49-F238E27FC236}">
                <a16:creationId xmlns:a16="http://schemas.microsoft.com/office/drawing/2014/main" id="{D87B7615-7CAB-1DCD-1DCE-D2289BCD9792}"/>
              </a:ext>
            </a:extLst>
          </p:cNvPr>
          <p:cNvSpPr/>
          <p:nvPr/>
        </p:nvSpPr>
        <p:spPr>
          <a:xfrm>
            <a:off x="6126480" y="3073187"/>
            <a:ext cx="2560320" cy="960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25268FB1-4B7A-1488-99EC-86C3A9CDA936}"/>
              </a:ext>
            </a:extLst>
          </p:cNvPr>
          <p:cNvSpPr/>
          <p:nvPr/>
        </p:nvSpPr>
        <p:spPr>
          <a:xfrm>
            <a:off x="6126480" y="3118907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Georgia" pitchFamily="34" charset="0"/>
              </a:rPr>
              <a:t>4</a:t>
            </a:r>
            <a:endParaRPr lang="en-US" sz="26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211C13A3-E103-C0A2-5F58-18F0CC86A6AE}"/>
              </a:ext>
            </a:extLst>
          </p:cNvPr>
          <p:cNvSpPr/>
          <p:nvPr/>
        </p:nvSpPr>
        <p:spPr>
          <a:xfrm>
            <a:off x="6126480" y="3576107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C0"/>
                </a:solidFill>
              </a:rPr>
              <a:t>Columns: posts + type + filtered posts + encoded labels (due to preprocessing) </a:t>
            </a:r>
            <a:endParaRPr lang="en-US" sz="100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117642B1-0234-256F-F8F9-49BC2C52F130}"/>
              </a:ext>
            </a:extLst>
          </p:cNvPr>
          <p:cNvSpPr/>
          <p:nvPr/>
        </p:nvSpPr>
        <p:spPr>
          <a:xfrm>
            <a:off x="411480" y="41675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1465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2C268-AA0E-0AAA-577B-3D95F0E3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BAA598-486F-8A9C-047C-BE559E2375A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7FAC1F-A562-4D66-7A5C-1C636EB00B8A}"/>
              </a:ext>
            </a:extLst>
          </p:cNvPr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CACHE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67F0A8-6F36-D6F4-BD11-EDC298921DFF}"/>
              </a:ext>
            </a:extLst>
          </p:cNvPr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E8"/>
                </a:solidFill>
                <a:latin typeface="Georgia" pitchFamily="34" charset="0"/>
              </a:rPr>
              <a:t>We used cache for…</a:t>
            </a:r>
            <a:endParaRPr lang="en-US" sz="2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347C415-5627-CF45-C0B7-8562BBC26D1C}"/>
              </a:ext>
            </a:extLst>
          </p:cNvPr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98E1F79-7B19-1C54-D8F7-0352356B8326}"/>
              </a:ext>
            </a:extLst>
          </p:cNvPr>
          <p:cNvSpPr/>
          <p:nvPr/>
        </p:nvSpPr>
        <p:spPr>
          <a:xfrm>
            <a:off x="556815" y="1289304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7084082-57F5-20E1-9772-FBF24CCB0E60}"/>
              </a:ext>
            </a:extLst>
          </p:cNvPr>
          <p:cNvSpPr/>
          <p:nvPr/>
        </p:nvSpPr>
        <p:spPr>
          <a:xfrm>
            <a:off x="648255" y="128930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431452D-1697-0B78-3EB3-E493778BED93}"/>
              </a:ext>
            </a:extLst>
          </p:cNvPr>
          <p:cNvSpPr/>
          <p:nvPr/>
        </p:nvSpPr>
        <p:spPr>
          <a:xfrm>
            <a:off x="1151175" y="1289304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BFA5"/>
                </a:solidFill>
              </a:rPr>
              <a:t>Preprocessing Data</a:t>
            </a:r>
            <a:endParaRPr lang="en-US" sz="11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3FA256F8-82E2-6C95-D16C-3AD9EDFA47F0}"/>
              </a:ext>
            </a:extLst>
          </p:cNvPr>
          <p:cNvSpPr/>
          <p:nvPr/>
        </p:nvSpPr>
        <p:spPr>
          <a:xfrm>
            <a:off x="556815" y="1947672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E6C275D-7D2C-9C6C-0063-3D7B1B1EF33F}"/>
              </a:ext>
            </a:extLst>
          </p:cNvPr>
          <p:cNvSpPr/>
          <p:nvPr/>
        </p:nvSpPr>
        <p:spPr>
          <a:xfrm>
            <a:off x="648255" y="194767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DE34EA8-D34E-3435-2130-C621E3EB3B48}"/>
              </a:ext>
            </a:extLst>
          </p:cNvPr>
          <p:cNvSpPr/>
          <p:nvPr/>
        </p:nvSpPr>
        <p:spPr>
          <a:xfrm>
            <a:off x="1151175" y="194767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5C6BC0"/>
                </a:solidFill>
              </a:rPr>
              <a:t>Upsampling</a:t>
            </a:r>
            <a:r>
              <a:rPr lang="en-US" sz="1100" dirty="0">
                <a:solidFill>
                  <a:srgbClr val="5C6BC0"/>
                </a:solidFill>
              </a:rPr>
              <a:t> Data</a:t>
            </a:r>
            <a:endParaRPr lang="en-US" sz="11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63E1F2FF-1180-FDD6-291D-DC09FE00EC04}"/>
              </a:ext>
            </a:extLst>
          </p:cNvPr>
          <p:cNvSpPr/>
          <p:nvPr/>
        </p:nvSpPr>
        <p:spPr>
          <a:xfrm>
            <a:off x="556815" y="2606040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96402BE7-59E5-FD76-183D-302AF88CFC72}"/>
              </a:ext>
            </a:extLst>
          </p:cNvPr>
          <p:cNvSpPr/>
          <p:nvPr/>
        </p:nvSpPr>
        <p:spPr>
          <a:xfrm>
            <a:off x="648255" y="26060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ABA599A-F949-86A5-D62B-8CF920B403B5}"/>
              </a:ext>
            </a:extLst>
          </p:cNvPr>
          <p:cNvSpPr/>
          <p:nvPr/>
        </p:nvSpPr>
        <p:spPr>
          <a:xfrm>
            <a:off x="1151175" y="260604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B300"/>
                </a:solidFill>
              </a:rPr>
              <a:t>Tokenized Vectors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FF4ED5-CC08-9238-1373-F85330B53340}"/>
              </a:ext>
            </a:extLst>
          </p:cNvPr>
          <p:cNvSpPr txBox="1"/>
          <p:nvPr/>
        </p:nvSpPr>
        <p:spPr>
          <a:xfrm>
            <a:off x="-1409145" y="14079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Algerian" panose="04020705040A02060702" pitchFamily="82" charset="0"/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31329-BC8B-0767-5F2E-38888AC50C03}"/>
              </a:ext>
            </a:extLst>
          </p:cNvPr>
          <p:cNvSpPr txBox="1"/>
          <p:nvPr/>
        </p:nvSpPr>
        <p:spPr>
          <a:xfrm>
            <a:off x="-1762153" y="2042636"/>
            <a:ext cx="5278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Algerian" panose="04020705040A02060702" pitchFamily="82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C237F4-25B4-4828-56A0-94BCB462EAF9}"/>
              </a:ext>
            </a:extLst>
          </p:cNvPr>
          <p:cNvSpPr txBox="1"/>
          <p:nvPr/>
        </p:nvSpPr>
        <p:spPr>
          <a:xfrm>
            <a:off x="-1849239" y="2686550"/>
            <a:ext cx="5452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Algerian" panose="04020705040A02060702" pitchFamily="82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2205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MODEL ARCHITECTURES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Models across 3 Paradigms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834640" cy="347472"/>
          </a:xfrm>
          <a:prstGeom prst="rect">
            <a:avLst/>
          </a:prstGeom>
          <a:solidFill>
            <a:srgbClr val="5C6BC0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83464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BERT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bert-base-uncased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441448"/>
            <a:ext cx="283464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414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DistilBERT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distilbert-base-uncased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282696"/>
            <a:ext cx="283464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8269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RoBERTa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roberta-base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170432"/>
            <a:ext cx="2057400" cy="347472"/>
          </a:xfrm>
          <a:prstGeom prst="rect">
            <a:avLst/>
          </a:prstGeom>
          <a:solidFill>
            <a:srgbClr val="00BFA5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1704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Sequence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1600200"/>
            <a:ext cx="20574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6002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Bi-LSTM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2-layer Bidirectional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PyTorch (from scratch)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1170432"/>
            <a:ext cx="3474720" cy="347472"/>
          </a:xfrm>
          <a:prstGeom prst="rect">
            <a:avLst/>
          </a:prstGeom>
          <a:solidFill>
            <a:srgbClr val="FFB30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170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Classical ML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0" y="1600200"/>
            <a:ext cx="34747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600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441448"/>
            <a:ext cx="34747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4414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Linear SVM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3282696"/>
            <a:ext cx="34747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282696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Random Forest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(200 trees)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4123944"/>
            <a:ext cx="34747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4123944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Naïve Bayes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DE8"/>
                </a:solidFill>
              </a:rPr>
              <a:t>(Multinomial)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8BF07-1B1C-16AF-C8B2-6110D6C0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62616E-5CA9-0F36-6366-E797035EC6E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D434D7-C135-BA22-B53D-846CB942C672}"/>
              </a:ext>
            </a:extLst>
          </p:cNvPr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MODEL ARCHITECTURES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246003-5674-CBE3-5FCE-54FF92055940}"/>
              </a:ext>
            </a:extLst>
          </p:cNvPr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E8"/>
                </a:solidFill>
                <a:latin typeface="Georgia" pitchFamily="34" charset="0"/>
              </a:rPr>
              <a:t>Looking At The Models</a:t>
            </a:r>
            <a:endParaRPr lang="en-US" sz="2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4156737-B0E1-59EA-BC91-98E8E41AC5DC}"/>
              </a:ext>
            </a:extLst>
          </p:cNvPr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0D534A-3D9E-4A71-FCE3-3088EB5D052C}"/>
              </a:ext>
            </a:extLst>
          </p:cNvPr>
          <p:cNvSpPr txBox="1"/>
          <p:nvPr/>
        </p:nvSpPr>
        <p:spPr>
          <a:xfrm>
            <a:off x="457200" y="1255776"/>
            <a:ext cx="85039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BERT : 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BERT is a transformer model that uses bidirectional attention to understand full contextual relationships between words in a sentence.</a:t>
            </a:r>
          </a:p>
          <a:p>
            <a:endParaRPr lang="en-US" sz="12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en-US" sz="1200" b="1" dirty="0" err="1">
                <a:solidFill>
                  <a:schemeClr val="bg1"/>
                </a:solidFill>
                <a:latin typeface="Garamond" panose="02020404030301010803" pitchFamily="18" charset="0"/>
              </a:rPr>
              <a:t>DistilBERT</a:t>
            </a:r>
            <a:r>
              <a:rPr lang="en-US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 : </a:t>
            </a:r>
            <a:r>
              <a:rPr lang="en-US" sz="1200" dirty="0" err="1">
                <a:solidFill>
                  <a:schemeClr val="bg1"/>
                </a:solidFill>
                <a:latin typeface="Garamond" panose="02020404030301010803" pitchFamily="18" charset="0"/>
              </a:rPr>
              <a:t>DistilBERT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 is a smaller, faster version of BERT that retains most of its performance using knowledge distillation.</a:t>
            </a:r>
          </a:p>
          <a:p>
            <a:endParaRPr lang="en-US" sz="12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en-US" sz="1200" b="1" dirty="0" err="1">
                <a:solidFill>
                  <a:schemeClr val="bg1"/>
                </a:solidFill>
                <a:latin typeface="Garamond" panose="02020404030301010803" pitchFamily="18" charset="0"/>
              </a:rPr>
              <a:t>RoBERTa</a:t>
            </a:r>
            <a:r>
              <a:rPr lang="en-US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 : </a:t>
            </a:r>
            <a:r>
              <a:rPr lang="en-US" sz="1200" dirty="0" err="1">
                <a:solidFill>
                  <a:schemeClr val="bg1"/>
                </a:solidFill>
                <a:latin typeface="Garamond" panose="02020404030301010803" pitchFamily="18" charset="0"/>
              </a:rPr>
              <a:t>RoBERTa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 is an optimized version of BERT trained on more data with improved training strategies for better performance.</a:t>
            </a:r>
          </a:p>
          <a:p>
            <a:endParaRPr lang="en-US" sz="12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Bi-LSTM : 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Bi-LSTM is a recurrent neural network that processes sequences in both forward and backward directions to capture contextual dependencies.</a:t>
            </a:r>
          </a:p>
          <a:p>
            <a:endParaRPr lang="en-US" sz="1200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en-IN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Logistic Regression : 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Logistic regression is a linear model that predicts class probabilities using a sigmoid or </a:t>
            </a:r>
            <a:r>
              <a:rPr lang="en-US" sz="1200" dirty="0" err="1">
                <a:solidFill>
                  <a:schemeClr val="bg1"/>
                </a:solidFill>
                <a:latin typeface="Garamond" panose="02020404030301010803" pitchFamily="18" charset="0"/>
              </a:rPr>
              <a:t>softmax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 function.</a:t>
            </a:r>
          </a:p>
          <a:p>
            <a:endParaRPr lang="en-US" sz="12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Linear SVM : 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Linear SVM is a classifier that finds the optimal hyperplane that maximizes the margin between different classes.</a:t>
            </a:r>
          </a:p>
          <a:p>
            <a:endParaRPr lang="en-US" sz="12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Random Forest : 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Random Forest is an ensemble of decision trees that combines multiple models to improve accuracy and reduce overfitting.</a:t>
            </a:r>
          </a:p>
          <a:p>
            <a:endParaRPr lang="en-US" sz="12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Naive Bayes : 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Naive Bayes is a probabilistic classifier that assumes feature independence and uses Bayes’ theorem for prediction.</a:t>
            </a:r>
          </a:p>
        </p:txBody>
      </p:sp>
    </p:spTree>
    <p:extLst>
      <p:ext uri="{BB962C8B-B14F-4D97-AF65-F5344CB8AC3E}">
        <p14:creationId xmlns:p14="http://schemas.microsoft.com/office/powerpoint/2010/main" val="308009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TRAINING SETUP &amp; HYPERPARAMETERS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models were trained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023360" cy="2852928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Data Split Strategy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1463040" cy="411480"/>
          </a:xfrm>
          <a:prstGeom prst="rect">
            <a:avLst/>
          </a:prstGeom>
          <a:solidFill>
            <a:srgbClr val="00BFA5">
              <a:alpha val="7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691640"/>
            <a:ext cx="685800" cy="411480"/>
          </a:xfrm>
          <a:prstGeom prst="rect">
            <a:avLst/>
          </a:prstGeom>
          <a:solidFill>
            <a:srgbClr val="FFB300">
              <a:alpha val="7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4540" y="16916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691640"/>
            <a:ext cx="685800" cy="411480"/>
          </a:xfrm>
          <a:prstGeom prst="rect">
            <a:avLst/>
          </a:prstGeom>
          <a:solidFill>
            <a:srgbClr val="EC407A">
              <a:alpha val="70000"/>
            </a:srgbClr>
          </a:solidFill>
          <a:ln w="12700">
            <a:solidFill>
              <a:srgbClr val="EC4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0340" y="1678439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2402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0C0"/>
                </a:solidFill>
              </a:rPr>
              <a:t>train_test_split (random_state=2018)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0C0"/>
                </a:solidFill>
              </a:rPr>
              <a:t>80% training → from upsampled dataset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0C0"/>
                </a:solidFill>
              </a:rPr>
              <a:t>10% validation → early stopping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0C0"/>
                </a:solidFill>
              </a:rPr>
              <a:t>10% test → final evaluation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0C0"/>
                </a:solidFill>
              </a:rPr>
              <a:t>Upsampling: sklearn.utils.resample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0B0C0"/>
                </a:solidFill>
              </a:rPr>
              <a:t>All 16 classes boosted to majority class 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4114800" cy="2852928"/>
          </a:xfrm>
          <a:prstGeom prst="rect">
            <a:avLst/>
          </a:prstGeom>
          <a:solidFill>
            <a:srgbClr val="162032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Key Hyperparameters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664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MAX_LEN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16642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EDE8"/>
                </a:solidFill>
              </a:rPr>
              <a:t>128 tokens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9568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BATCH_SIZE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19568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EDE8"/>
                </a:solidFill>
              </a:rPr>
              <a:t>32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494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EPOCHS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224942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EDE8"/>
                </a:solidFill>
              </a:rPr>
              <a:t>10 (max)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5420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LEARNING_RATE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25420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EDE8"/>
                </a:solidFill>
              </a:rPr>
              <a:t>1e-5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8346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Early Stopping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2834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EDE8"/>
                </a:solidFill>
              </a:rPr>
              <a:t>Patience =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1272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weight_decay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31272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EDE8"/>
                </a:solidFill>
              </a:rPr>
              <a:t>0.01 (AdamW)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419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RANDOM_STATE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419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EDE8"/>
                </a:solidFill>
              </a:rPr>
              <a:t>2018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712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MIN_WORD_FREQ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37124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EDE8"/>
                </a:solidFill>
              </a:rPr>
              <a:t>69 rows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B0C0"/>
                </a:solidFill>
              </a:rPr>
              <a:t>Hyperparameters are updated from the initial results to achieve the best result.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RESULTS — TEST ACCURACY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all 8 models performed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506770242"/>
              </p:ext>
            </p:extLst>
          </p:nvPr>
        </p:nvGraphicFramePr>
        <p:xfrm>
          <a:off x="274320" y="1143000"/>
          <a:ext cx="8595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RESULTS — FULL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Test-set Performance Across All Models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321040" cy="3703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FA5"/>
                          </a:solidFill>
                        </a:rPr>
                        <a:t>Linear SVM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Classical ML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0.9813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0.9812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0.9813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0.9812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C6DA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Classical ML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0.9794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0.9793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0.9794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0.9794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986CB"/>
                          </a:solidFill>
                        </a:rPr>
                        <a:t>BERT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Transformer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0.9544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0.9546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0.9544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0.9541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575CD"/>
                          </a:solidFill>
                        </a:rPr>
                        <a:t>DistilBERT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Transformer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0.9505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0.9500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0.9505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0.9501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A68C8"/>
                          </a:solidFill>
                        </a:rPr>
                        <a:t>RoBERTa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Transformer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0.9490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0.9481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0.9490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0.9480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</a:rPr>
                        <a:t>Naïve Bayes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Classical ML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0.8917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0.8961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0.8917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0.8932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5350"/>
                          </a:solidFill>
                        </a:rPr>
                        <a:t>Bi-LSTM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Sequence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0.8663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0.8590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0.8663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0.8605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0B0C0"/>
                          </a:solidFill>
                        </a:rPr>
                        <a:t>Log. Regression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Classical ML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0.8342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0.8463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0.8342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DE8"/>
                          </a:solidFill>
                        </a:rPr>
                        <a:t>0.8340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MBTI DIMENSION ACCURACY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Per-Dimension Breakdown: EI · NS · FT · JP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0" y="8961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EI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8778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895385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91294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</a:rPr>
              <a:t>JP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0C0"/>
                </a:solidFill>
              </a:rPr>
              <a:t>Linear SVM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225296"/>
            <a:ext cx="1325880" cy="402336"/>
          </a:xfrm>
          <a:prstGeom prst="rect">
            <a:avLst/>
          </a:prstGeom>
          <a:solidFill>
            <a:srgbClr val="00A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22529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225296"/>
            <a:ext cx="1325880" cy="402336"/>
          </a:xfrm>
          <a:prstGeom prst="rect">
            <a:avLst/>
          </a:prstGeom>
          <a:solidFill>
            <a:srgbClr val="00B0A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22529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225296"/>
            <a:ext cx="1325880" cy="402336"/>
          </a:xfrm>
          <a:prstGeom prst="rect">
            <a:avLst/>
          </a:prstGeom>
          <a:solidFill>
            <a:srgbClr val="00A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22529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225296"/>
            <a:ext cx="1325880" cy="402336"/>
          </a:xfrm>
          <a:prstGeom prst="rect">
            <a:avLst/>
          </a:prstGeom>
          <a:solidFill>
            <a:srgbClr val="00A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22529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0.988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16642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0C0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1700784"/>
            <a:ext cx="1325880" cy="402336"/>
          </a:xfrm>
          <a:prstGeom prst="rect">
            <a:avLst/>
          </a:prstGeom>
          <a:solidFill>
            <a:srgbClr val="00A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70078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1700784"/>
            <a:ext cx="1325880" cy="402336"/>
          </a:xfrm>
          <a:prstGeom prst="rect">
            <a:avLst/>
          </a:prstGeom>
          <a:solidFill>
            <a:srgbClr val="00B0A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70078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1700784"/>
            <a:ext cx="1325880" cy="402336"/>
          </a:xfrm>
          <a:prstGeom prst="rect">
            <a:avLst/>
          </a:prstGeom>
          <a:solidFill>
            <a:srgbClr val="00A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70078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1700784"/>
            <a:ext cx="1325880" cy="402336"/>
          </a:xfrm>
          <a:prstGeom prst="rect">
            <a:avLst/>
          </a:prstGeom>
          <a:solidFill>
            <a:srgbClr val="00A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70078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0.987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213969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0C0"/>
                </a:solidFill>
              </a:rPr>
              <a:t>BERT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2176272"/>
            <a:ext cx="1325880" cy="402336"/>
          </a:xfrm>
          <a:prstGeom prst="rect">
            <a:avLst/>
          </a:prstGeom>
          <a:solidFill>
            <a:srgbClr val="009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17627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0.984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2176272"/>
            <a:ext cx="1325880" cy="402336"/>
          </a:xfrm>
          <a:prstGeom prst="rect">
            <a:avLst/>
          </a:prstGeom>
          <a:solidFill>
            <a:srgbClr val="00A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217627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2176272"/>
            <a:ext cx="1325880" cy="402336"/>
          </a:xfrm>
          <a:prstGeom prst="rect">
            <a:avLst/>
          </a:prstGeom>
          <a:solidFill>
            <a:srgbClr val="009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17627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0.981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2176272"/>
            <a:ext cx="1325880" cy="402336"/>
          </a:xfrm>
          <a:prstGeom prst="rect">
            <a:avLst/>
          </a:prstGeom>
          <a:solidFill>
            <a:srgbClr val="008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17627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0.971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261518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0C0"/>
                </a:solidFill>
              </a:rPr>
              <a:t>DistilBERT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0" y="2651760"/>
            <a:ext cx="1325880" cy="402336"/>
          </a:xfrm>
          <a:prstGeom prst="rect">
            <a:avLst/>
          </a:prstGeom>
          <a:solidFill>
            <a:srgbClr val="009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265176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0.983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2651760"/>
            <a:ext cx="1325880" cy="402336"/>
          </a:xfrm>
          <a:prstGeom prst="rect">
            <a:avLst/>
          </a:prstGeom>
          <a:solidFill>
            <a:srgbClr val="00A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265176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0" y="2651760"/>
            <a:ext cx="1325880" cy="402336"/>
          </a:xfrm>
          <a:prstGeom prst="rect">
            <a:avLst/>
          </a:prstGeom>
          <a:solidFill>
            <a:srgbClr val="009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265176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0.979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2651760"/>
            <a:ext cx="1325880" cy="402336"/>
          </a:xfrm>
          <a:prstGeom prst="rect">
            <a:avLst/>
          </a:prstGeom>
          <a:solidFill>
            <a:srgbClr val="008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265176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0.969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" y="309067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0C0"/>
                </a:solidFill>
              </a:rPr>
              <a:t>RoBERTa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0" y="3127248"/>
            <a:ext cx="1325880" cy="402336"/>
          </a:xfrm>
          <a:prstGeom prst="rect">
            <a:avLst/>
          </a:prstGeom>
          <a:solidFill>
            <a:srgbClr val="009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312724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0.978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0" y="3127248"/>
            <a:ext cx="1325880" cy="402336"/>
          </a:xfrm>
          <a:prstGeom prst="rect">
            <a:avLst/>
          </a:prstGeom>
          <a:solidFill>
            <a:srgbClr val="00A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312724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0" y="3127248"/>
            <a:ext cx="1325880" cy="402336"/>
          </a:xfrm>
          <a:prstGeom prst="rect">
            <a:avLst/>
          </a:prstGeom>
          <a:solidFill>
            <a:srgbClr val="009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312724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0.980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58000" y="3127248"/>
            <a:ext cx="1325880" cy="402336"/>
          </a:xfrm>
          <a:prstGeom prst="rect">
            <a:avLst/>
          </a:prstGeom>
          <a:solidFill>
            <a:srgbClr val="008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312724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0.969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" y="35661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0C0"/>
                </a:solidFill>
              </a:rPr>
              <a:t>Naïve Bayes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0" y="3602736"/>
            <a:ext cx="1325880" cy="402336"/>
          </a:xfrm>
          <a:prstGeom prst="rect">
            <a:avLst/>
          </a:prstGeom>
          <a:solidFill>
            <a:srgbClr val="1A6A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0" y="360273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0.951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14800" y="3602736"/>
            <a:ext cx="1325880" cy="402336"/>
          </a:xfrm>
          <a:prstGeom prst="rect">
            <a:avLst/>
          </a:prstGeom>
          <a:solidFill>
            <a:srgbClr val="008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360273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0.972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86400" y="3602736"/>
            <a:ext cx="1325880" cy="402336"/>
          </a:xfrm>
          <a:prstGeom prst="rect">
            <a:avLst/>
          </a:prstGeom>
          <a:solidFill>
            <a:srgbClr val="1A6A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0" y="360273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0.955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858000" y="3602736"/>
            <a:ext cx="1325880" cy="402336"/>
          </a:xfrm>
          <a:prstGeom prst="rect">
            <a:avLst/>
          </a:prstGeom>
          <a:solidFill>
            <a:srgbClr val="1A5A7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0" y="360273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0.942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4320" y="404164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0C0"/>
                </a:solidFill>
              </a:rPr>
              <a:t>Bi-LSTM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0" y="4078224"/>
            <a:ext cx="1325880" cy="402336"/>
          </a:xfrm>
          <a:prstGeom prst="rect">
            <a:avLst/>
          </a:prstGeom>
          <a:solidFill>
            <a:srgbClr val="1A5A7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0" y="407822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0.937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114800" y="4078224"/>
            <a:ext cx="1325880" cy="402336"/>
          </a:xfrm>
          <a:prstGeom prst="rect">
            <a:avLst/>
          </a:prstGeom>
          <a:solidFill>
            <a:srgbClr val="00909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0" y="407822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0.975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86400" y="4078224"/>
            <a:ext cx="1325880" cy="402336"/>
          </a:xfrm>
          <a:prstGeom prst="rect">
            <a:avLst/>
          </a:prstGeom>
          <a:solidFill>
            <a:srgbClr val="1A6A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0" y="407822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0.948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858000" y="4078224"/>
            <a:ext cx="1325880" cy="402336"/>
          </a:xfrm>
          <a:prstGeom prst="rect">
            <a:avLst/>
          </a:prstGeom>
          <a:solidFill>
            <a:srgbClr val="1A4A6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407822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0.925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74320" y="45171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B0C0"/>
                </a:solidFill>
              </a:rPr>
              <a:t>Log. Reg.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743200" y="4553712"/>
            <a:ext cx="13258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0" y="455371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0.920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114800" y="4553712"/>
            <a:ext cx="1325880" cy="402336"/>
          </a:xfrm>
          <a:prstGeom prst="rect">
            <a:avLst/>
          </a:prstGeom>
          <a:solidFill>
            <a:srgbClr val="1A4A6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14800" y="455371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0.933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486400" y="4553712"/>
            <a:ext cx="1325880" cy="402336"/>
          </a:xfrm>
          <a:prstGeom prst="rect">
            <a:avLst/>
          </a:prstGeom>
          <a:solidFill>
            <a:srgbClr val="1A4A6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0" y="455371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0.933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858000" y="4553712"/>
            <a:ext cx="13258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58000" y="455371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0.919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65760" y="48874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B300"/>
                </a:solidFill>
              </a:rPr>
              <a:t>NS dimension is easiest to classify. JP is the most challenging across all models.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KEY OBSERVATIONS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Results Tell 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160520" cy="1170432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347472" cy="1170432"/>
          </a:xfrm>
          <a:prstGeom prst="rect">
            <a:avLst/>
          </a:prstGeom>
          <a:solidFill>
            <a:srgbClr val="00BFA5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88720"/>
            <a:ext cx="347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850392" y="12618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Classical ML Leads (98.13%)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158191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B0C0"/>
                </a:solidFill>
              </a:rPr>
              <a:t>Linear SVM with TF-IDF bigrams captures lexical richness of long forum posts without needing deep contextual modelling.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60520" cy="1170432"/>
          </a:xfrm>
          <a:prstGeom prst="rect">
            <a:avLst/>
          </a:prstGeom>
          <a:solidFill>
            <a:srgbClr val="162032"/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188720"/>
            <a:ext cx="347472" cy="1170432"/>
          </a:xfrm>
          <a:prstGeom prst="rect">
            <a:avLst/>
          </a:prstGeom>
          <a:solidFill>
            <a:srgbClr val="5C6BC0">
              <a:alpha val="6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188720"/>
            <a:ext cx="347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5239512" y="12618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6BC0"/>
                </a:solidFill>
              </a:rPr>
              <a:t>Transformers Are Competitive (94.9–95.4%)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39512" y="158191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B0C0"/>
                </a:solidFill>
              </a:rPr>
              <a:t>BERT, DistilBERT, RoBERTa all exceed 94.9% after hyperparameter tuning (MAX_LEN=128, LR=1e-5, weight_decay).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4160520" cy="1170432"/>
          </a:xfrm>
          <a:prstGeom prst="rect">
            <a:avLst/>
          </a:prstGeom>
          <a:solidFill>
            <a:srgbClr val="162032"/>
          </a:solidFill>
          <a:ln w="19050">
            <a:solidFill>
              <a:srgbClr val="26C6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14600"/>
            <a:ext cx="347472" cy="1170432"/>
          </a:xfrm>
          <a:prstGeom prst="rect">
            <a:avLst/>
          </a:prstGeom>
          <a:solidFill>
            <a:srgbClr val="26C6DA">
              <a:alpha val="6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514600"/>
            <a:ext cx="347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3</a:t>
            </a:r>
          </a:p>
        </p:txBody>
      </p:sp>
      <p:sp>
        <p:nvSpPr>
          <p:cNvPr id="18" name="Text 16"/>
          <p:cNvSpPr/>
          <p:nvPr/>
        </p:nvSpPr>
        <p:spPr>
          <a:xfrm>
            <a:off x="850392" y="258775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C6DA"/>
                </a:solidFill>
              </a:rPr>
              <a:t>Random Forest Close Second (97.9%)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0392" y="290779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B0C0"/>
                </a:solidFill>
              </a:rPr>
              <a:t>Ensemble trees also exploit high-dimensional TF-IDF space effectively.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514600"/>
            <a:ext cx="4160520" cy="1170432"/>
          </a:xfrm>
          <a:prstGeom prst="rect">
            <a:avLst/>
          </a:prstGeom>
          <a:solidFill>
            <a:srgbClr val="162032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514600"/>
            <a:ext cx="347472" cy="1170432"/>
          </a:xfrm>
          <a:prstGeom prst="rect">
            <a:avLst/>
          </a:prstGeom>
          <a:solidFill>
            <a:srgbClr val="FFB300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514600"/>
            <a:ext cx="347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4</a:t>
            </a:r>
          </a:p>
        </p:txBody>
      </p:sp>
      <p:sp>
        <p:nvSpPr>
          <p:cNvPr id="23" name="Text 21"/>
          <p:cNvSpPr/>
          <p:nvPr/>
        </p:nvSpPr>
        <p:spPr>
          <a:xfrm>
            <a:off x="5239512" y="258775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</a:rPr>
              <a:t>Logistic Regression Underperforms (83.4%)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9512" y="290779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B0C0"/>
                </a:solidFill>
              </a:rPr>
              <a:t>Struggles with 16-class separation in upsampled feature space; needs further regularisation tuning.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840480"/>
            <a:ext cx="4160520" cy="1170432"/>
          </a:xfrm>
          <a:prstGeom prst="rect">
            <a:avLst/>
          </a:prstGeom>
          <a:solidFill>
            <a:srgbClr val="162032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840480"/>
            <a:ext cx="347472" cy="1170432"/>
          </a:xfrm>
          <a:prstGeom prst="rect">
            <a:avLst/>
          </a:prstGeom>
          <a:solidFill>
            <a:srgbClr val="AB47BC">
              <a:alpha val="6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3840480"/>
            <a:ext cx="347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5</a:t>
            </a:r>
          </a:p>
        </p:txBody>
      </p:sp>
      <p:sp>
        <p:nvSpPr>
          <p:cNvPr id="28" name="Text 26"/>
          <p:cNvSpPr/>
          <p:nvPr/>
        </p:nvSpPr>
        <p:spPr>
          <a:xfrm>
            <a:off x="850392" y="39136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B47BC"/>
                </a:solidFill>
              </a:rPr>
              <a:t>NS Easiest · EI &amp; JP Hardest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" y="423367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B0C0"/>
                </a:solidFill>
              </a:rPr>
              <a:t>Greater lexical overlap between Extraverted/Introverted and Judging/Perceiving writers makes those dimensions harder.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840480"/>
            <a:ext cx="4160520" cy="1170432"/>
          </a:xfrm>
          <a:prstGeom prst="rect">
            <a:avLst/>
          </a:prstGeom>
          <a:solidFill>
            <a:srgbClr val="162032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840480"/>
            <a:ext cx="347472" cy="1170432"/>
          </a:xfrm>
          <a:prstGeom prst="rect">
            <a:avLst/>
          </a:prstGeom>
          <a:solidFill>
            <a:srgbClr val="EF5350">
              <a:alpha val="6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840480"/>
            <a:ext cx="3474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6</a:t>
            </a:r>
          </a:p>
        </p:txBody>
      </p:sp>
      <p:sp>
        <p:nvSpPr>
          <p:cNvPr id="33" name="Text 31"/>
          <p:cNvSpPr/>
          <p:nvPr/>
        </p:nvSpPr>
        <p:spPr>
          <a:xfrm>
            <a:off x="5239512" y="39136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5350"/>
                </a:solidFill>
              </a:rPr>
              <a:t>Bi-LSTM Reasonable (86.6%)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39512" y="423367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0B0C0"/>
                </a:solidFill>
              </a:rPr>
              <a:t>Trained from scratch without pre-trained representations; surpassed by all transformers but decent for a sequence model.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CODE EVOLUTION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→ Final: What Changed &amp; Why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325880" cy="32004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</a:rPr>
              <a:t>Aspect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170432"/>
            <a:ext cx="1280160" cy="32004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1704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</a:rPr>
              <a:t>Before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170432"/>
            <a:ext cx="1828800" cy="32004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</a:rPr>
              <a:t>After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1170432"/>
            <a:ext cx="3749040" cy="32004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</a:rPr>
              <a:t>Impact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132588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4" name="Shape 12"/>
          <p:cNvSpPr/>
          <p:nvPr/>
        </p:nvSpPr>
        <p:spPr>
          <a:xfrm>
            <a:off x="1783080" y="1554480"/>
            <a:ext cx="128016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54680" y="1554480"/>
            <a:ext cx="182880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4920" y="1554480"/>
            <a:ext cx="374904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1554480"/>
            <a:ext cx="64008" cy="5029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5544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</a:rPr>
              <a:t>MAX_LEN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1554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5350"/>
                </a:solidFill>
              </a:rPr>
              <a:t>64 tokens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5468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</a:rPr>
              <a:t>128 tokens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48072" y="1554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</a:rPr>
              <a:t>Richer context before truncation → better accuracy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121408"/>
            <a:ext cx="132588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783080" y="2121408"/>
            <a:ext cx="128016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154680" y="2121408"/>
            <a:ext cx="18288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4920" y="2121408"/>
            <a:ext cx="374904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121408"/>
            <a:ext cx="64008" cy="50292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1214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6BC0"/>
                </a:solidFill>
              </a:rPr>
              <a:t>Learning Rate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83080" y="212140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5350"/>
                </a:solidFill>
              </a:rPr>
              <a:t>2e-5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54680" y="2121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</a:rPr>
              <a:t>1e-5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48072" y="21214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</a:rPr>
              <a:t>Smoother updates, less overshooting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688336"/>
            <a:ext cx="132588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2" name="Shape 30"/>
          <p:cNvSpPr/>
          <p:nvPr/>
        </p:nvSpPr>
        <p:spPr>
          <a:xfrm>
            <a:off x="1783080" y="2688336"/>
            <a:ext cx="128016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3" name="Shape 31"/>
          <p:cNvSpPr/>
          <p:nvPr/>
        </p:nvSpPr>
        <p:spPr>
          <a:xfrm>
            <a:off x="3154680" y="2688336"/>
            <a:ext cx="182880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4" name="Shape 32"/>
          <p:cNvSpPr/>
          <p:nvPr/>
        </p:nvSpPr>
        <p:spPr>
          <a:xfrm>
            <a:off x="5074920" y="2688336"/>
            <a:ext cx="374904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" y="2688336"/>
            <a:ext cx="64008" cy="5029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68833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300"/>
                </a:solidFill>
              </a:rPr>
              <a:t>weight_decay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83080" y="268833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5350"/>
                </a:solidFill>
              </a:rPr>
              <a:t>Not set (0)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54680" y="26883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</a:rPr>
              <a:t>0.01 in AdamW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48072" y="26883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</a:rPr>
              <a:t>L2 regularisation → reduces overfitting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255264"/>
            <a:ext cx="132588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783080" y="3255264"/>
            <a:ext cx="128016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42" name="Shape 40"/>
          <p:cNvSpPr/>
          <p:nvPr/>
        </p:nvSpPr>
        <p:spPr>
          <a:xfrm>
            <a:off x="3154680" y="3255264"/>
            <a:ext cx="18288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43" name="Shape 41"/>
          <p:cNvSpPr/>
          <p:nvPr/>
        </p:nvSpPr>
        <p:spPr>
          <a:xfrm>
            <a:off x="5074920" y="3255264"/>
            <a:ext cx="374904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44" name="Shape 42"/>
          <p:cNvSpPr/>
          <p:nvPr/>
        </p:nvSpPr>
        <p:spPr>
          <a:xfrm>
            <a:off x="365760" y="3255264"/>
            <a:ext cx="64008" cy="50292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25526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B47BC"/>
                </a:solidFill>
              </a:rPr>
              <a:t>Tensor Build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783080" y="325526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5350"/>
                </a:solidFill>
              </a:rPr>
              <a:t>torch.tensor(ids)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154680" y="32552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</a:rPr>
              <a:t>Direct tokenizer output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48072" y="32552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</a:rPr>
              <a:t>No copy warning, better memory efficiency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3822192"/>
            <a:ext cx="132588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0" name="Shape 48"/>
          <p:cNvSpPr/>
          <p:nvPr/>
        </p:nvSpPr>
        <p:spPr>
          <a:xfrm>
            <a:off x="1783080" y="3822192"/>
            <a:ext cx="128016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1" name="Shape 49"/>
          <p:cNvSpPr/>
          <p:nvPr/>
        </p:nvSpPr>
        <p:spPr>
          <a:xfrm>
            <a:off x="3154680" y="3822192"/>
            <a:ext cx="182880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2" name="Shape 50"/>
          <p:cNvSpPr/>
          <p:nvPr/>
        </p:nvSpPr>
        <p:spPr>
          <a:xfrm>
            <a:off x="5074920" y="3822192"/>
            <a:ext cx="3749040" cy="5029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3" name="Shape 51"/>
          <p:cNvSpPr/>
          <p:nvPr/>
        </p:nvSpPr>
        <p:spPr>
          <a:xfrm>
            <a:off x="365760" y="3822192"/>
            <a:ext cx="64008" cy="502920"/>
          </a:xfrm>
          <a:prstGeom prst="rect">
            <a:avLst/>
          </a:prstGeom>
          <a:solidFill>
            <a:srgbClr val="26C6DA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382219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C6DA"/>
                </a:solidFill>
              </a:rPr>
              <a:t>Preprocessing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783080" y="38221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5350"/>
                </a:solidFill>
              </a:rPr>
              <a:t>Run every time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54680" y="3822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</a:rPr>
              <a:t>Cached (pickle)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48072" y="38221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</a:rPr>
              <a:t>Skips heavy NLP work on re-runs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4389120"/>
            <a:ext cx="132588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59" name="Shape 57"/>
          <p:cNvSpPr/>
          <p:nvPr/>
        </p:nvSpPr>
        <p:spPr>
          <a:xfrm>
            <a:off x="1783080" y="4389120"/>
            <a:ext cx="128016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60" name="Shape 58"/>
          <p:cNvSpPr/>
          <p:nvPr/>
        </p:nvSpPr>
        <p:spPr>
          <a:xfrm>
            <a:off x="3154680" y="4389120"/>
            <a:ext cx="18288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61" name="Shape 59"/>
          <p:cNvSpPr/>
          <p:nvPr/>
        </p:nvSpPr>
        <p:spPr>
          <a:xfrm>
            <a:off x="5074920" y="4389120"/>
            <a:ext cx="374904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62" name="Shape 60"/>
          <p:cNvSpPr/>
          <p:nvPr/>
        </p:nvSpPr>
        <p:spPr>
          <a:xfrm>
            <a:off x="365760" y="4389120"/>
            <a:ext cx="64008" cy="5029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4389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5350"/>
                </a:solidFill>
              </a:rPr>
              <a:t>Data Slice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783080" y="4389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5350"/>
                </a:solidFill>
              </a:rPr>
              <a:t>texts[:50000]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154680" y="4389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A5"/>
                </a:solidFill>
              </a:rPr>
              <a:t>Full dataset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148072" y="4389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</a:rPr>
              <a:t>Improves generalisation across all MBTI classes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05D13-1ED0-8545-72AD-F97655A31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C9C9D7-07A2-C611-02AB-A7DFD011DDE1}"/>
              </a:ext>
            </a:extLst>
          </p:cNvPr>
          <p:cNvSpPr/>
          <p:nvPr/>
        </p:nvSpPr>
        <p:spPr>
          <a:xfrm>
            <a:off x="5943600" y="2286000"/>
            <a:ext cx="5486400" cy="5486400"/>
          </a:xfrm>
          <a:prstGeom prst="ellipse">
            <a:avLst/>
          </a:prstGeom>
          <a:solidFill>
            <a:srgbClr val="00BFA5">
              <a:alpha val="7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BC0BF9-F2ED-CF55-8ED3-02FCD457C00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790D9C-ED1D-F741-4B0A-E1CB556CA555}"/>
              </a:ext>
            </a:extLst>
          </p:cNvPr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41D592-3366-54B5-0C1D-9625DB23EB32}"/>
              </a:ext>
            </a:extLst>
          </p:cNvPr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74AB4B-FE85-D0E5-EDDF-6B5472615B03}"/>
              </a:ext>
            </a:extLst>
          </p:cNvPr>
          <p:cNvSpPr/>
          <p:nvPr/>
        </p:nvSpPr>
        <p:spPr>
          <a:xfrm>
            <a:off x="411480" y="1234440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70BFBE-045B-574E-A644-BD50F8A10803}"/>
              </a:ext>
            </a:extLst>
          </p:cNvPr>
          <p:cNvSpPr/>
          <p:nvPr/>
        </p:nvSpPr>
        <p:spPr>
          <a:xfrm>
            <a:off x="502920" y="12344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134ADB-3AB7-FDED-C5F4-B7F5E378F576}"/>
              </a:ext>
            </a:extLst>
          </p:cNvPr>
          <p:cNvSpPr/>
          <p:nvPr/>
        </p:nvSpPr>
        <p:spPr>
          <a:xfrm>
            <a:off x="1005840" y="123444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BFA5"/>
                </a:solidFill>
              </a:rPr>
              <a:t>Linear SVM with TF-IDF achieves 98.13% — best model overall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23328C0-0FCC-FD7D-DD89-190B77A3186D}"/>
              </a:ext>
            </a:extLst>
          </p:cNvPr>
          <p:cNvSpPr/>
          <p:nvPr/>
        </p:nvSpPr>
        <p:spPr>
          <a:xfrm>
            <a:off x="411480" y="1892808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51BE652-14B2-AEF7-9856-F12F8A71AC05}"/>
              </a:ext>
            </a:extLst>
          </p:cNvPr>
          <p:cNvSpPr/>
          <p:nvPr/>
        </p:nvSpPr>
        <p:spPr>
          <a:xfrm>
            <a:off x="502920" y="189280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90FA6B-0076-5CA6-2901-4C1FCCDE3CAB}"/>
              </a:ext>
            </a:extLst>
          </p:cNvPr>
          <p:cNvSpPr/>
          <p:nvPr/>
        </p:nvSpPr>
        <p:spPr>
          <a:xfrm>
            <a:off x="1005840" y="189280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C0"/>
                </a:solidFill>
              </a:rPr>
              <a:t>Transformers (BERT/DistilBERT/RoBERTa) all exceed 94.9% after tuning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491191C-72A9-BCBC-693D-437128FF89B8}"/>
              </a:ext>
            </a:extLst>
          </p:cNvPr>
          <p:cNvSpPr/>
          <p:nvPr/>
        </p:nvSpPr>
        <p:spPr>
          <a:xfrm>
            <a:off x="411480" y="2551176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F3C311-9A94-C8A3-B1B1-7752EEBC451D}"/>
              </a:ext>
            </a:extLst>
          </p:cNvPr>
          <p:cNvSpPr/>
          <p:nvPr/>
        </p:nvSpPr>
        <p:spPr>
          <a:xfrm>
            <a:off x="502920" y="25511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3397A01-DDE1-6034-EBAB-4FFBCB8E806C}"/>
              </a:ext>
            </a:extLst>
          </p:cNvPr>
          <p:cNvSpPr/>
          <p:nvPr/>
        </p:nvSpPr>
        <p:spPr>
          <a:xfrm>
            <a:off x="1005840" y="255117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B300"/>
                </a:solidFill>
              </a:rPr>
              <a:t>JP was the hardest MBTI dimension across all models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E53EF54-6157-8AFC-8BBC-B573746C361D}"/>
              </a:ext>
            </a:extLst>
          </p:cNvPr>
          <p:cNvSpPr/>
          <p:nvPr/>
        </p:nvSpPr>
        <p:spPr>
          <a:xfrm>
            <a:off x="41148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3C75341-4E12-9998-A1C7-486494BB2898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883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5486400" cy="5486400"/>
          </a:xfrm>
          <a:prstGeom prst="ellipse">
            <a:avLst/>
          </a:prstGeom>
          <a:solidFill>
            <a:srgbClr val="00BFA5">
              <a:alpha val="7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FA5"/>
                </a:solidFill>
              </a:rPr>
              <a:t>FUTURE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Algerian" panose="04020705040A02060702" pitchFamily="82" charset="0"/>
              </a:rPr>
              <a:t>01</a:t>
            </a:r>
          </a:p>
        </p:txBody>
      </p:sp>
      <p:sp>
        <p:nvSpPr>
          <p:cNvPr id="8" name="Text 6"/>
          <p:cNvSpPr/>
          <p:nvPr/>
        </p:nvSpPr>
        <p:spPr>
          <a:xfrm>
            <a:off x="1005840" y="131368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0BFA5"/>
                </a:solidFill>
              </a:rPr>
              <a:t>Longer context windows (256–512 tokens)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92808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Algerian" panose="04020705040A02060702" pitchFamily="82" charset="0"/>
              </a:rPr>
              <a:t>02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189280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C0"/>
                </a:solidFill>
              </a:rPr>
              <a:t>Ensemble TF-IDF features with transformer embeddings</a:t>
            </a:r>
          </a:p>
        </p:txBody>
      </p:sp>
      <p:sp>
        <p:nvSpPr>
          <p:cNvPr id="12" name="Shape 10"/>
          <p:cNvSpPr/>
          <p:nvPr/>
        </p:nvSpPr>
        <p:spPr>
          <a:xfrm>
            <a:off x="411480" y="2551176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511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Algerian" panose="04020705040A02060702" pitchFamily="82" charset="0"/>
              </a:rPr>
              <a:t>03</a:t>
            </a:r>
          </a:p>
        </p:txBody>
      </p:sp>
      <p:sp>
        <p:nvSpPr>
          <p:cNvPr id="14" name="Text 12"/>
          <p:cNvSpPr/>
          <p:nvPr/>
        </p:nvSpPr>
        <p:spPr>
          <a:xfrm>
            <a:off x="1005840" y="255117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B300"/>
                </a:solidFill>
              </a:rPr>
              <a:t>Separate binary classifiers per MBTI dimension (EI, NS, FT, JP)</a:t>
            </a:r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2475" y="34472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-1452155" y="323697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8DAC3E6C-A2C1-2515-9C47-4876ADBDB8E1}"/>
              </a:ext>
            </a:extLst>
          </p:cNvPr>
          <p:cNvSpPr/>
          <p:nvPr/>
        </p:nvSpPr>
        <p:spPr>
          <a:xfrm>
            <a:off x="411480" y="3154680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A433FF7-681E-DC77-5059-13D241A420D1}"/>
              </a:ext>
            </a:extLst>
          </p:cNvPr>
          <p:cNvSpPr/>
          <p:nvPr/>
        </p:nvSpPr>
        <p:spPr>
          <a:xfrm>
            <a:off x="502920" y="31546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Algerian" panose="04020705040A02060702" pitchFamily="82" charset="0"/>
              </a:rPr>
              <a:t>04</a:t>
            </a: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BA668C28-8616-0E65-78C4-CE72A3BBF8D6}"/>
              </a:ext>
            </a:extLst>
          </p:cNvPr>
          <p:cNvSpPr/>
          <p:nvPr/>
        </p:nvSpPr>
        <p:spPr>
          <a:xfrm>
            <a:off x="1005840" y="323392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0BFA5"/>
                </a:solidFill>
              </a:rPr>
              <a:t>Use Information Bottleneck to restrict information flow in Transformers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E2BCC65-9DF1-9B3A-327F-21808326A24E}"/>
              </a:ext>
            </a:extLst>
          </p:cNvPr>
          <p:cNvSpPr/>
          <p:nvPr/>
        </p:nvSpPr>
        <p:spPr>
          <a:xfrm>
            <a:off x="411480" y="3813048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FBD86DFF-41E2-1DEA-4B92-DEA2B73B83A6}"/>
              </a:ext>
            </a:extLst>
          </p:cNvPr>
          <p:cNvSpPr/>
          <p:nvPr/>
        </p:nvSpPr>
        <p:spPr>
          <a:xfrm>
            <a:off x="502920" y="381304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Algerian" panose="04020705040A02060702" pitchFamily="82" charset="0"/>
              </a:rPr>
              <a:t>05</a:t>
            </a:r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736BC4E6-D25B-C43B-FF6B-B0BA0A1DE966}"/>
              </a:ext>
            </a:extLst>
          </p:cNvPr>
          <p:cNvSpPr/>
          <p:nvPr/>
        </p:nvSpPr>
        <p:spPr>
          <a:xfrm>
            <a:off x="1005840" y="381304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C0"/>
                </a:solidFill>
              </a:rPr>
              <a:t>Increase the dataset size, i.e. use MBTI-1M dataset</a:t>
            </a:r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CB569EB1-CA48-9ABF-15B3-41C7E442B63E}"/>
              </a:ext>
            </a:extLst>
          </p:cNvPr>
          <p:cNvSpPr/>
          <p:nvPr/>
        </p:nvSpPr>
        <p:spPr>
          <a:xfrm>
            <a:off x="411480" y="4471416"/>
            <a:ext cx="5303520" cy="530352"/>
          </a:xfrm>
          <a:prstGeom prst="rect">
            <a:avLst/>
          </a:prstGeom>
          <a:solidFill>
            <a:srgbClr val="162032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DB55ABF8-AD66-E183-B827-1C773888F46A}"/>
              </a:ext>
            </a:extLst>
          </p:cNvPr>
          <p:cNvSpPr/>
          <p:nvPr/>
        </p:nvSpPr>
        <p:spPr>
          <a:xfrm>
            <a:off x="502920" y="44714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Algerian" panose="04020705040A02060702" pitchFamily="82" charset="0"/>
              </a:rPr>
              <a:t>06</a:t>
            </a: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8FB83609-D492-DDD3-188A-8393B5B27492}"/>
              </a:ext>
            </a:extLst>
          </p:cNvPr>
          <p:cNvSpPr/>
          <p:nvPr/>
        </p:nvSpPr>
        <p:spPr>
          <a:xfrm>
            <a:off x="1005840" y="447141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B300"/>
                </a:solidFill>
              </a:rPr>
              <a:t>Use Elastic Net for improving the Logistic Regression 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660F2-75F5-6053-9924-EEA83C76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7ACEC1-B360-CF1B-6081-A143032DD82F}"/>
              </a:ext>
            </a:extLst>
          </p:cNvPr>
          <p:cNvSpPr/>
          <p:nvPr/>
        </p:nvSpPr>
        <p:spPr>
          <a:xfrm>
            <a:off x="7132320" y="-1097280"/>
            <a:ext cx="4572000" cy="4572000"/>
          </a:xfrm>
          <a:prstGeom prst="ellipse">
            <a:avLst/>
          </a:prstGeom>
          <a:solidFill>
            <a:srgbClr val="00BFA5">
              <a:alpha val="12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9A7FFF-DA7B-86A5-7409-57FBBE34F360}"/>
              </a:ext>
            </a:extLst>
          </p:cNvPr>
          <p:cNvSpPr/>
          <p:nvPr/>
        </p:nvSpPr>
        <p:spPr>
          <a:xfrm>
            <a:off x="7772400" y="182880"/>
            <a:ext cx="2743200" cy="2743200"/>
          </a:xfrm>
          <a:prstGeom prst="ellipse">
            <a:avLst/>
          </a:prstGeom>
          <a:solidFill>
            <a:srgbClr val="FFB300">
              <a:alpha val="15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73B4601-DBFD-9D59-C200-3F0DE4E0FCA0}"/>
              </a:ext>
            </a:extLst>
          </p:cNvPr>
          <p:cNvSpPr/>
          <p:nvPr/>
        </p:nvSpPr>
        <p:spPr>
          <a:xfrm>
            <a:off x="457200" y="1188720"/>
            <a:ext cx="54864" cy="25603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DB7ED1-13BC-5CB0-9FFB-38DC926D6D5A}"/>
              </a:ext>
            </a:extLst>
          </p:cNvPr>
          <p:cNvSpPr/>
          <p:nvPr/>
        </p:nvSpPr>
        <p:spPr>
          <a:xfrm>
            <a:off x="64008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C0BED3-D6EA-15C6-97A9-6C71C442D79E}"/>
              </a:ext>
            </a:extLst>
          </p:cNvPr>
          <p:cNvSpPr/>
          <p:nvPr/>
        </p:nvSpPr>
        <p:spPr>
          <a:xfrm>
            <a:off x="594360" y="14173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455A067-C12A-71B6-8C72-9214F0449BDD}"/>
              </a:ext>
            </a:extLst>
          </p:cNvPr>
          <p:cNvSpPr/>
          <p:nvPr/>
        </p:nvSpPr>
        <p:spPr>
          <a:xfrm>
            <a:off x="59436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13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8816B26-A6DD-68B8-2A58-E911CE2D621E}"/>
              </a:ext>
            </a:extLst>
          </p:cNvPr>
          <p:cNvSpPr/>
          <p:nvPr/>
        </p:nvSpPr>
        <p:spPr>
          <a:xfrm>
            <a:off x="594360" y="3657600"/>
            <a:ext cx="4114800" cy="22860"/>
          </a:xfrm>
          <a:prstGeom prst="rect">
            <a:avLst/>
          </a:prstGeom>
          <a:solidFill>
            <a:srgbClr val="A0B0C0">
              <a:alpha val="50000"/>
            </a:srgbClr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06E4E9-9DE2-C92F-6ABD-39516D9697F0}"/>
              </a:ext>
            </a:extLst>
          </p:cNvPr>
          <p:cNvSpPr/>
          <p:nvPr/>
        </p:nvSpPr>
        <p:spPr>
          <a:xfrm>
            <a:off x="594360" y="369795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Akella Akhila · Kommireddy Jayanthi · Nelluri Pavithra · Parimi Sunitha · Soha Sultana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C326CC-51C2-A695-D8A5-5A7AF539A22B}"/>
              </a:ext>
            </a:extLst>
          </p:cNvPr>
          <p:cNvSpPr/>
          <p:nvPr/>
        </p:nvSpPr>
        <p:spPr>
          <a:xfrm>
            <a:off x="59436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5060FBBD-3392-110B-FF69-D4E6DAE3B64A}"/>
              </a:ext>
            </a:extLst>
          </p:cNvPr>
          <p:cNvSpPr/>
          <p:nvPr/>
        </p:nvSpPr>
        <p:spPr>
          <a:xfrm>
            <a:off x="594360" y="390369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C0"/>
                </a:solidFill>
              </a:rPr>
              <a:t>230001005 · 230001041 · 230001057 · 230001061 · 230001071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12717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1232</Words>
  <Application>Microsoft Office PowerPoint</Application>
  <PresentationFormat>On-screen Show (16:9)</PresentationFormat>
  <Paragraphs>385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Garamond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MBTI Personality Types</dc:title>
  <dc:subject>PptxGenJS Presentation</dc:subject>
  <dc:creator>Group 13</dc:creator>
  <cp:lastModifiedBy>akhila akella</cp:lastModifiedBy>
  <cp:revision>3</cp:revision>
  <dcterms:created xsi:type="dcterms:W3CDTF">2026-04-16T05:29:53Z</dcterms:created>
  <dcterms:modified xsi:type="dcterms:W3CDTF">2026-04-16T16:00:19Z</dcterms:modified>
</cp:coreProperties>
</file>